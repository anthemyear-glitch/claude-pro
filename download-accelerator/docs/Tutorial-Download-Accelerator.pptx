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828800"/>
            <a:ext cx="4754880" cy="4754880"/>
          </a:xfrm>
          <a:prstGeom prst="ellipse">
            <a:avLst/>
          </a:prstGeom>
          <a:solidFill>
            <a:srgbClr val="16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389120"/>
            <a:ext cx="4206240" cy="4206240"/>
          </a:xfrm>
          <a:prstGeom prst="ellipse">
            <a:avLst/>
          </a:prstGeom>
          <a:solidFill>
            <a:srgbClr val="12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255" y="1795071"/>
            <a:ext cx="5806440" cy="326785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658368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1B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22D3EE"/>
                </a:solidFill>
                <a:latin typeface="Segoe UI"/>
              </a:rPr>
              <a:t>⚡  TUTORIAL INFOGRAFIS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6035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700" b="1">
                <a:solidFill>
                  <a:srgbClr val="E8EEFC"/>
                </a:solidFill>
                <a:latin typeface="Segoe UI"/>
              </a:rPr>
              <a:t>Cara Menjalankan</a:t>
            </a:r>
          </a:p>
          <a:p>
            <a:pPr algn="l">
              <a:lnSpc>
                <a:spcPct val="105000"/>
              </a:lnSpc>
            </a:pPr>
            <a:r>
              <a:rPr sz="4100" b="1">
                <a:solidFill>
                  <a:srgbClr val="22D3EE"/>
                </a:solidFill>
                <a:latin typeface="Segoe UI"/>
              </a:rPr>
              <a:t>Download Accelerator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80360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3A1C0"/>
                </a:solidFill>
                <a:latin typeface="Segoe UI"/>
              </a:rPr>
              <a:t>Tutorial lengkap langkah demi langkah untuk menjalankan perintah
pada gambar — dari membuka terminal sampai dashboard siap pakai.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67328"/>
            <a:ext cx="5532120" cy="1298448"/>
          </a:xfrm>
          <a:prstGeom prst="roundRect">
            <a:avLst>
              <a:gd name="adj" fmla="val 9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3913632"/>
            <a:ext cx="100584" cy="10058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13632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07008" y="3913632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151376"/>
            <a:ext cx="507492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7EE787"/>
                </a:solidFill>
                <a:latin typeface="Consolas"/>
              </a:rPr>
              <a:t>$ cd download-accelerator &amp;&amp; npm start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93A1C0"/>
                </a:solidFill>
                <a:latin typeface="Consolas"/>
              </a:rPr>
              <a:t>  → http://localhost:3000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2180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22D3EE"/>
                </a:solidFill>
                <a:latin typeface="Segoe UI"/>
              </a:rPr>
              <a:t>Node.js ≥ 18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532180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6366F1"/>
                </a:solidFill>
                <a:latin typeface="Segoe UI"/>
              </a:rPr>
              <a:t>0 Dependencies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532180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"/>
              </a:rPr>
              <a:t>Windows · macOS · Linux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9893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C8E"/>
                </a:solidFill>
                <a:latin typeface="Segoe UI"/>
              </a:rPr>
              <a:t>Mendukung unduhan multi-segment paralel, pause/resume, dan antrian.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1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480560"/>
            <a:ext cx="3474720" cy="3474720"/>
          </a:xfrm>
          <a:prstGeom prst="ellipse">
            <a:avLst/>
          </a:prstGeom>
          <a:solidFill>
            <a:srgbClr val="11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B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2D3EE"/>
                </a:solidFill>
                <a:latin typeface="Segoe UI"/>
              </a:rPr>
              <a:t>BAGIAN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E8EEFC"/>
                </a:solidFill>
                <a:latin typeface="Segoe UI"/>
              </a:rPr>
              <a:t>Alur Menjalankan Aplikasi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3898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3A1C0"/>
                </a:solidFill>
                <a:latin typeface="Segoe UI"/>
              </a:rPr>
              <a:t>Empat langkah sederhana — selesai dalam satu menit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1810512"/>
            <a:ext cx="192024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6366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148840"/>
            <a:ext cx="2487168" cy="2788920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148840"/>
            <a:ext cx="2487168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36192" y="2496312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E8EEFC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227832"/>
            <a:ext cx="2212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E8EEFC"/>
                </a:solidFill>
                <a:latin typeface="Segoe UI"/>
              </a:rPr>
              <a:t>Siapkan
Prasyarat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995928"/>
            <a:ext cx="2212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Pastikan Node.js ≥ 18
terpasang di komputer</a:t>
            </a:r>
          </a:p>
        </p:txBody>
      </p:sp>
      <p:sp>
        <p:nvSpPr>
          <p:cNvPr id="14" name="Chevron 13"/>
          <p:cNvSpPr/>
          <p:nvPr/>
        </p:nvSpPr>
        <p:spPr>
          <a:xfrm>
            <a:off x="3108960" y="3319272"/>
            <a:ext cx="274320" cy="457200"/>
          </a:xfrm>
          <a:prstGeom prst="chevron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38144" y="2148840"/>
            <a:ext cx="2487168" cy="2788920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38144" y="2148840"/>
            <a:ext cx="2487168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07408" y="2496312"/>
            <a:ext cx="566928" cy="5669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E8EEFC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3227832"/>
            <a:ext cx="2212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E8EEFC"/>
                </a:solidFill>
                <a:latin typeface="Segoe UI"/>
              </a:rPr>
              <a:t>Masuk
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3995928"/>
            <a:ext cx="2212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Buka terminal lalu masuk
ke folder download-accelerator</a:t>
            </a:r>
          </a:p>
        </p:txBody>
      </p:sp>
      <p:sp>
        <p:nvSpPr>
          <p:cNvPr id="20" name="Chevron 19"/>
          <p:cNvSpPr/>
          <p:nvPr/>
        </p:nvSpPr>
        <p:spPr>
          <a:xfrm>
            <a:off x="5980176" y="3319272"/>
            <a:ext cx="274320" cy="457200"/>
          </a:xfrm>
          <a:prstGeom prst="chevron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2148840"/>
            <a:ext cx="2487168" cy="2788920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148840"/>
            <a:ext cx="2487168" cy="822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78624" y="2496312"/>
            <a:ext cx="566928" cy="5669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E8EEFC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27832"/>
            <a:ext cx="2212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E8EEFC"/>
                </a:solidFill>
                <a:latin typeface="Segoe UI"/>
              </a:rPr>
              <a:t>Jalankan
Perintah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95928"/>
            <a:ext cx="2212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Ketik npm start dan
tunggu server aktif</a:t>
            </a:r>
          </a:p>
        </p:txBody>
      </p:sp>
      <p:sp>
        <p:nvSpPr>
          <p:cNvPr id="26" name="Chevron 25"/>
          <p:cNvSpPr/>
          <p:nvPr/>
        </p:nvSpPr>
        <p:spPr>
          <a:xfrm>
            <a:off x="8851392" y="3319272"/>
            <a:ext cx="274320" cy="457200"/>
          </a:xfrm>
          <a:prstGeom prst="chevron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0576" y="2148840"/>
            <a:ext cx="2487168" cy="2788920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0576" y="2148840"/>
            <a:ext cx="2487168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0" y="2496312"/>
            <a:ext cx="566928" cy="5669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B1020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7736" y="3227832"/>
            <a:ext cx="2212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E8EEFC"/>
                </a:solidFill>
                <a:latin typeface="Segoe UI"/>
              </a:rPr>
              <a:t>Buka
Browser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3995928"/>
            <a:ext cx="2212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Akses http://localhost:3000
dan dashboard tampil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34924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0F2A24"/>
          </a:solidFill>
          <a:ln w="12700">
            <a:solidFill>
              <a:srgbClr val="1D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349240"/>
            <a:ext cx="10424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✓  Hasil:  </a:t>
            </a:r>
            <a:r>
              <a:rPr sz="1350" b="0">
                <a:solidFill>
                  <a:srgbClr val="E8EEFC"/>
                </a:solidFill>
                <a:latin typeface="Segoe UI"/>
              </a:rPr>
              <a:t>server berjalan, dashboard Download Accelerator terbuka di browser, dan siap menerima URL unduhan.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C8E"/>
                </a:solidFill>
                <a:latin typeface="Segoe UI"/>
              </a:rPr>
              <a:t>Download Accelerator · Tutorial Infografis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C8E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1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480560"/>
            <a:ext cx="3474720" cy="3474720"/>
          </a:xfrm>
          <a:prstGeom prst="ellipse">
            <a:avLst/>
          </a:prstGeom>
          <a:solidFill>
            <a:srgbClr val="11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B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2D3EE"/>
                </a:solidFill>
                <a:latin typeface="Segoe UI"/>
              </a:rPr>
              <a:t>BAGIAN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E8EEFC"/>
                </a:solidFill>
                <a:latin typeface="Segoe UI"/>
              </a:rPr>
              <a:t>Langkah 0 · Siapkan Prasyarat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3898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3A1C0"/>
                </a:solidFill>
                <a:latin typeface="Segoe UI"/>
              </a:rPr>
              <a:t>Tiga hal ini wajib ada sebelum menjalankan perintah pada gambar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1810512"/>
            <a:ext cx="192024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6366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148840"/>
            <a:ext cx="3456432" cy="2651760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148840"/>
            <a:ext cx="3456432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395728"/>
            <a:ext cx="475488" cy="47548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E8EEFC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2432304"/>
            <a:ext cx="2450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C"/>
                </a:solidFill>
                <a:latin typeface="Segoe UI"/>
              </a:rPr>
              <a:t>Node.js  ≥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35808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93A1C0"/>
                </a:solidFill>
                <a:latin typeface="Segoe UI"/>
              </a:rPr>
              <a:t>Runtime tempat aplikasi berjalan.
Unduh versi LTS dari nodejs.org.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50208"/>
            <a:ext cx="2944368" cy="566928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950208"/>
            <a:ext cx="54864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950208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EE787"/>
                </a:solidFill>
                <a:latin typeface="Consolas"/>
              </a:rPr>
              <a:t>node --version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148840"/>
            <a:ext cx="3456432" cy="2651760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2148840"/>
            <a:ext cx="3456432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99432" y="2395728"/>
            <a:ext cx="475488" cy="47548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E8EEFC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432304"/>
            <a:ext cx="2450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C"/>
                </a:solidFill>
                <a:latin typeface="Segoe UI"/>
              </a:rPr>
              <a:t>npm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035808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93A1C0"/>
                </a:solidFill>
                <a:latin typeface="Segoe UI"/>
              </a:rPr>
              <a:t>Paket bawaan Node.js untuk
menjalankan skrip aplikasi.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99432" y="3950208"/>
            <a:ext cx="2944368" cy="566928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99432" y="3950208"/>
            <a:ext cx="54864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3950208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EE787"/>
                </a:solidFill>
                <a:latin typeface="Consolas"/>
              </a:rPr>
              <a:t>npm --version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2148840"/>
            <a:ext cx="3456432" cy="2651760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19872" y="2148840"/>
            <a:ext cx="3456432" cy="822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75904" y="2395728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E8EEFC"/>
                </a:solidFill>
                <a:latin typeface="Sego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8552" y="2432304"/>
            <a:ext cx="2450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C"/>
                </a:solidFill>
                <a:latin typeface="Segoe UI"/>
              </a:rPr>
              <a:t>Terminal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035808"/>
            <a:ext cx="29535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93A1C0"/>
                </a:solidFill>
                <a:latin typeface="Segoe UI"/>
              </a:rPr>
              <a:t>CMD / PowerShell (Windows)
atau Terminal (macOS / Linux).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75904" y="3950208"/>
            <a:ext cx="2944368" cy="566928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75904" y="3950208"/>
            <a:ext cx="54864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7072" y="3950208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EE787"/>
                </a:solidFill>
                <a:latin typeface="Consolas"/>
              </a:rPr>
              <a:t>cd download-accelerator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138928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2A220E"/>
          </a:solidFill>
          <a:ln w="12700">
            <a:solidFill>
              <a:srgbClr val="6B53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38928"/>
            <a:ext cx="10424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BBF24"/>
                </a:solidFill>
                <a:latin typeface="Segoe UI"/>
              </a:rPr>
              <a:t>⚠  Belum terpasang Node.js?  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EFC"/>
                </a:solidFill>
                <a:latin typeface="Segoe UI"/>
              </a:rPr>
              <a:t>Unduh versi LTS di nodejs.org, jalankan installer, lalu buka ulang terminal. Cek keberhasilan dengan perintah node --version (harus ≥ 18).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C8E"/>
                </a:solidFill>
                <a:latin typeface="Segoe UI"/>
              </a:rPr>
              <a:t>Download Accelerator · Tutorial Infografis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C8E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1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480560"/>
            <a:ext cx="3474720" cy="3474720"/>
          </a:xfrm>
          <a:prstGeom prst="ellipse">
            <a:avLst/>
          </a:prstGeom>
          <a:solidFill>
            <a:srgbClr val="11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B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2D3EE"/>
                </a:solidFill>
                <a:latin typeface="Segoe UI"/>
              </a:rPr>
              <a:t>BAGIAN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E8EEFC"/>
                </a:solidFill>
                <a:latin typeface="Segoe UI"/>
              </a:rPr>
              <a:t>Langkah 1 &amp; 2 · Terminal dan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3898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3A1C0"/>
                </a:solidFill>
                <a:latin typeface="Segoe UI"/>
              </a:rPr>
              <a:t>Dua langkah pertama dari perintah pada gambar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1810512"/>
            <a:ext cx="192024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6366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11064240" cy="1810512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688336"/>
            <a:ext cx="658368" cy="65836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E8EEFC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5915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EEFC"/>
                </a:solidFill>
                <a:latin typeface="Segoe UI"/>
              </a:rPr>
              <a:t>Buka 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871216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3A1C0"/>
                </a:solidFill>
                <a:latin typeface="Segoe UI"/>
              </a:rPr>
              <a:t>Windows: tekan Win + R, ketik cmd, lalu Enter.
macOS / Linux: buka aplikasi Terminal.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651760"/>
            <a:ext cx="4434840" cy="749808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2651760"/>
            <a:ext cx="54864" cy="7498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4888" y="2651760"/>
            <a:ext cx="414223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EE787"/>
                </a:solidFill>
                <a:latin typeface="Consolas"/>
              </a:rPr>
              <a:t>Win + R  →  ketik "cmd"  →  Enter</a:t>
            </a:r>
            <a:r>
              <a:rPr sz="1050" b="0">
                <a:solidFill>
                  <a:srgbClr val="5D6C8E"/>
                </a:solidFill>
                <a:latin typeface="Consolas"/>
              </a:rPr>
              <a:t>    # Windows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06239"/>
            <a:ext cx="11064240" cy="1810512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773167"/>
            <a:ext cx="658368" cy="65836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E8EEFC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443983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EEFC"/>
                </a:solidFill>
                <a:latin typeface="Segoe UI"/>
              </a:rPr>
              <a:t>Masuk ke Folder Aplikasi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956047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3A1C0"/>
                </a:solidFill>
                <a:latin typeface="Segoe UI"/>
              </a:rPr>
              <a:t>Arahkan terminal ke folder download-accelerator
(tempat aplikasi diunduh / di-clone).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4736591"/>
            <a:ext cx="4434840" cy="749808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4736591"/>
            <a:ext cx="54864" cy="7498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4888" y="4736591"/>
            <a:ext cx="414223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EE787"/>
                </a:solidFill>
                <a:latin typeface="Consolas"/>
              </a:rPr>
              <a:t>cd download-accelerator</a:t>
            </a:r>
            <a:r>
              <a:rPr sz="1050" b="0">
                <a:solidFill>
                  <a:srgbClr val="5D6C8E"/>
                </a:solidFill>
                <a:latin typeface="Consolas"/>
              </a:rPr>
              <a:t>    # jalankan di folder induknya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3212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141F38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32120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D3EE"/>
                </a:solidFill>
                <a:latin typeface="Segoe UI"/>
              </a:rPr>
              <a:t>💡 Tips:  </a:t>
            </a:r>
            <a:r>
              <a:rPr sz="1200" b="0">
                <a:solidFill>
                  <a:srgbClr val="93A1C0"/>
                </a:solidFill>
                <a:latin typeface="Segoe UI"/>
              </a:rPr>
              <a:t>ketik cd lalu spasi, kemudian seret folder download-accelerator ke jendela terminal — path-nya tertempel otomatis. Tekan Enter.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C8E"/>
                </a:solidFill>
                <a:latin typeface="Segoe UI"/>
              </a:rPr>
              <a:t>Download Accelerator · Tutorial Infografis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C8E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1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480560"/>
            <a:ext cx="3474720" cy="3474720"/>
          </a:xfrm>
          <a:prstGeom prst="ellipse">
            <a:avLst/>
          </a:prstGeom>
          <a:solidFill>
            <a:srgbClr val="11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B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2D3EE"/>
                </a:solidFill>
                <a:latin typeface="Segoe UI"/>
              </a:rPr>
              <a:t>BAGIAN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E8EEFC"/>
                </a:solidFill>
                <a:latin typeface="Segoe UI"/>
              </a:rPr>
              <a:t>Langkah 3 &amp; 4 · Jalankan dan Buka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3898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3A1C0"/>
                </a:solidFill>
                <a:latin typeface="Segoe UI"/>
              </a:rPr>
              <a:t>Dua langkah terakhir — server aktif, dashboard siap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1810512"/>
            <a:ext cx="192024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6366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11064240" cy="1316736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450592"/>
            <a:ext cx="658368" cy="65836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E8EEFC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267712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E8EEFC"/>
                </a:solidFill>
                <a:latin typeface="Segoe UI"/>
              </a:rPr>
              <a:t>Jalankan Perintah Utama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706624"/>
            <a:ext cx="4892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Perintah inti pada gambar. Tunggu sampai muncul pesan
"⚡ Download Accelerator running…"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404872"/>
            <a:ext cx="4434840" cy="749808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2404872"/>
            <a:ext cx="54864" cy="7498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4888" y="2404872"/>
            <a:ext cx="414223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EE787"/>
                </a:solidFill>
                <a:latin typeface="Consolas"/>
              </a:rPr>
              <a:t>npm start</a:t>
            </a:r>
            <a:r>
              <a:rPr sz="1050" b="0">
                <a:solidFill>
                  <a:srgbClr val="5D6C8E"/>
                </a:solidFill>
                <a:latin typeface="Consolas"/>
              </a:rPr>
              <a:t>    # atau: node start.js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4176"/>
            <a:ext cx="11064240" cy="1316736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023360"/>
            <a:ext cx="658368" cy="65836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B1020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8404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E8EEFC"/>
                </a:solidFill>
                <a:latin typeface="Segoe UI"/>
              </a:rPr>
              <a:t>Buka Dashboard di 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279392"/>
            <a:ext cx="4892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Server tetap berjalan selama terminal terbuka.
Tekan Ctrl + C di terminal untuk menghentikan server.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3977640"/>
            <a:ext cx="4434840" cy="749808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3977640"/>
            <a:ext cx="54864" cy="7498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4888" y="3977640"/>
            <a:ext cx="414223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EE787"/>
                </a:solidFill>
                <a:latin typeface="Consolas"/>
              </a:rPr>
              <a:t>http://localhost:3000</a:t>
            </a:r>
            <a:r>
              <a:rPr sz="1050" b="0">
                <a:solidFill>
                  <a:srgbClr val="5D6C8E"/>
                </a:solidFill>
                <a:latin typeface="Consolas"/>
              </a:rPr>
              <a:t>    # buka di browser favorit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358384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3A1C0"/>
                </a:solidFill>
                <a:latin typeface="Segoe UI"/>
              </a:rPr>
              <a:t>Contoh pesan sukses di terminal: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50992"/>
            <a:ext cx="11064240" cy="768096"/>
          </a:xfrm>
          <a:prstGeom prst="roundRect">
            <a:avLst>
              <a:gd name="adj" fmla="val 9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797296"/>
            <a:ext cx="100584" cy="10058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2688" y="5797296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3856" y="5797296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035040"/>
            <a:ext cx="10607040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7EE787"/>
                </a:solidFill>
                <a:latin typeface="Consolas"/>
              </a:rPr>
              <a:t>⚡ Download Accelerator running at http://0.0.0.0:3000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93A1C0"/>
                </a:solidFill>
                <a:latin typeface="Consolas"/>
              </a:rPr>
              <a:t>   Downloads folder: .../download-accelerator/downloads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C8E"/>
                </a:solidFill>
                <a:latin typeface="Segoe UI"/>
              </a:rPr>
              <a:t>Download Accelerator · Tutorial Infografis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C8E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1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480560"/>
            <a:ext cx="3474720" cy="3474720"/>
          </a:xfrm>
          <a:prstGeom prst="ellipse">
            <a:avLst/>
          </a:prstGeom>
          <a:solidFill>
            <a:srgbClr val="11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B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2D3EE"/>
                </a:solidFill>
                <a:latin typeface="Segoe UI"/>
              </a:rPr>
              <a:t>BAGIAN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E8EEFC"/>
                </a:solidFill>
                <a:latin typeface="Segoe UI"/>
              </a:rPr>
              <a:t>Cara Pakai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3898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3A1C0"/>
                </a:solidFill>
                <a:latin typeface="Segoe UI"/>
              </a:rPr>
              <a:t>Setelah browser terbuka di http://localhost:3000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1810512"/>
            <a:ext cx="192024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6366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103120"/>
            <a:ext cx="3456432" cy="1755648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E8EEFC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395728"/>
            <a:ext cx="24505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EFC"/>
                </a:solidFill>
                <a:latin typeface="Segoe UI"/>
              </a:rPr>
              <a:t>Tempel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017520"/>
            <a:ext cx="29535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Salin alamat file (http/https)
ke kolom paling atas.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03120"/>
            <a:ext cx="3456432" cy="1755648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81144" y="2359152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E8EEFC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2395728"/>
            <a:ext cx="24505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EFC"/>
                </a:solidFill>
                <a:latin typeface="Segoe UI"/>
              </a:rPr>
              <a:t>Pilih Segments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17520"/>
            <a:ext cx="29535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Jumlah koneksi paralel.
8 adalah pilihan terbaik.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103120"/>
            <a:ext cx="3456432" cy="1755648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57616" y="2359152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E8EEFC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395728"/>
            <a:ext cx="24505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EFC"/>
                </a:solidFill>
                <a:latin typeface="Segoe UI"/>
              </a:rPr>
              <a:t>Klik Download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017520"/>
            <a:ext cx="29535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Unduhan masuk antrian
dan langsung berjalan.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60520"/>
            <a:ext cx="3456432" cy="1755648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416552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0B1020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" y="4453128"/>
            <a:ext cx="24505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EFC"/>
                </a:solidFill>
                <a:latin typeface="Segoe UI"/>
              </a:rPr>
              <a:t>Pantau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074920"/>
            <a:ext cx="29535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Lihat kecepatan, ETA,
dan strip tiap segmen.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160520"/>
            <a:ext cx="3456432" cy="1755648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81144" y="4416552"/>
            <a:ext cx="457200" cy="45720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E8EEFC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4453128"/>
            <a:ext cx="24505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EFC"/>
                </a:solidFill>
                <a:latin typeface="Segoe UI"/>
              </a:rPr>
              <a:t>Pause / Resume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074920"/>
            <a:ext cx="29535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Jeda kapan saja —
lanjut dari posisi terakhir.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4160520"/>
            <a:ext cx="3456432" cy="1755648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57616" y="4416552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E8EEFC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453128"/>
            <a:ext cx="24505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EFC"/>
                </a:solidFill>
                <a:latin typeface="Segoe UI"/>
              </a:rPr>
              <a:t>Simpan 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5074920"/>
            <a:ext cx="29535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Saat selesai, klik
"Save file" pada kartu.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870448"/>
            <a:ext cx="11064240" cy="475488"/>
          </a:xfrm>
          <a:prstGeom prst="roundRect">
            <a:avLst>
              <a:gd name="adj" fmla="val 50000"/>
            </a:avLst>
          </a:prstGeom>
          <a:solidFill>
            <a:srgbClr val="0F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34D399"/>
                </a:solidFill>
                <a:latin typeface="Segoe UI"/>
              </a:rPr>
              <a:t>Selesai!  File tersimpan otomatis di folder  download-accelerator/downloads/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C8E"/>
                </a:solidFill>
                <a:latin typeface="Segoe UI"/>
              </a:rPr>
              <a:t>Download Accelerator · Tutorial Infografis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C8E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1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480560"/>
            <a:ext cx="3474720" cy="3474720"/>
          </a:xfrm>
          <a:prstGeom prst="ellipse">
            <a:avLst/>
          </a:prstGeom>
          <a:solidFill>
            <a:srgbClr val="11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B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2D3EE"/>
                </a:solidFill>
                <a:latin typeface="Segoe UI"/>
              </a:rPr>
              <a:t>BAGIAN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E8EEFC"/>
                </a:solidFill>
                <a:latin typeface="Segoe UI"/>
              </a:rPr>
              <a:t>Fitur Utama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3898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3A1C0"/>
                </a:solidFill>
                <a:latin typeface="Segoe UI"/>
              </a:rPr>
              <a:t>Kenapa unduhan bisa lebih cepat dan aman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1810512"/>
            <a:ext cx="192024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6366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103120"/>
            <a:ext cx="3456432" cy="1755648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103120"/>
            <a:ext cx="82296" cy="17556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37744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2D3EE"/>
                </a:solidFill>
                <a:latin typeface="Segoe UI"/>
              </a:rPr>
              <a:t>Multi-Segment Paralel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944368"/>
            <a:ext cx="29535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File dipecah hingga 16 koneksi
Range yang berjalan bersamaan.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03120"/>
            <a:ext cx="3456432" cy="1755648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103120"/>
            <a:ext cx="82296" cy="17556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37744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6366F1"/>
                </a:solidFill>
                <a:latin typeface="Segoe UI"/>
              </a:rPr>
              <a:t>Pause / Resume Presisi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944368"/>
            <a:ext cx="29535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Melanjutkan dari byte terakhir,
bahkan setelah komputer restart.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103120"/>
            <a:ext cx="3456432" cy="1755648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2103120"/>
            <a:ext cx="82296" cy="17556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37744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4D399"/>
                </a:solidFill>
                <a:latin typeface="Segoe UI"/>
              </a:rPr>
              <a:t>Antrian Cerdas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944368"/>
            <a:ext cx="29535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Atur jumlah unduhan bersamaan
(maks 3 secara default).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60520"/>
            <a:ext cx="3456432" cy="1755648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160520"/>
            <a:ext cx="82296" cy="17556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43484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BBF24"/>
                </a:solidFill>
                <a:latin typeface="Segoe UI"/>
              </a:rPr>
              <a:t>Statistik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5001768"/>
            <a:ext cx="29535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Kecepatan total &amp; per-segnen,
ETA, dan grafik sparkline.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160520"/>
            <a:ext cx="3456432" cy="1755648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160520"/>
            <a:ext cx="82296" cy="17556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443484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472B6"/>
                </a:solidFill>
                <a:latin typeface="Segoe UI"/>
              </a:rPr>
              <a:t>Fallback Otomatis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5001768"/>
            <a:ext cx="29535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Server tanpa fitur Range akan
turun ke satu koneksi.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4160520"/>
            <a:ext cx="3456432" cy="1755648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9872" y="4160520"/>
            <a:ext cx="82296" cy="17556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43484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60A5FA"/>
                </a:solidFill>
                <a:latin typeface="Segoe UI"/>
              </a:rPr>
              <a:t>Crash-safe &amp; Aman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001768"/>
            <a:ext cx="29535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3A1C0"/>
                </a:solidFill>
                <a:latin typeface="Segoe UI"/>
              </a:rPr>
              <a:t>State tersimpan di disk, file .part
di-rename secara atomik.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870448"/>
            <a:ext cx="11064240" cy="475488"/>
          </a:xfrm>
          <a:prstGeom prst="roundRect">
            <a:avLst>
              <a:gd name="adj" fmla="val 50000"/>
            </a:avLst>
          </a:prstGeom>
          <a:solidFill>
            <a:srgbClr val="14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22D3EE"/>
                </a:solidFill>
                <a:latin typeface="Segoe UI"/>
              </a:rPr>
              <a:t>Uji performa aplikasi kapan saja dengan perintah  npm test  (23 tes otomatis)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C8E"/>
                </a:solidFill>
                <a:latin typeface="Segoe UI"/>
              </a:rPr>
              <a:t>Download Accelerator · Tutorial Infografis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C8E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1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480560"/>
            <a:ext cx="3474720" cy="3474720"/>
          </a:xfrm>
          <a:prstGeom prst="ellipse">
            <a:avLst/>
          </a:prstGeom>
          <a:solidFill>
            <a:srgbClr val="11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B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2D3EE"/>
                </a:solidFill>
                <a:latin typeface="Segoe UI"/>
              </a:rPr>
              <a:t>BAGIAN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E8EEFC"/>
                </a:solidFill>
                <a:latin typeface="Segoe UI"/>
              </a:rPr>
              <a:t>Tips &amp; Pemecahan Masalah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38988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3A1C0"/>
                </a:solidFill>
                <a:latin typeface="Segoe UI"/>
              </a:rPr>
              <a:t>Masalah umum dan solusi cepatnya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1810512"/>
            <a:ext cx="192024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2D3EE"/>
              </a:gs>
              <a:gs pos="100000">
                <a:srgbClr val="6366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5440680" cy="1810512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121408"/>
            <a:ext cx="82296" cy="1810512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2860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E8EEFC"/>
                </a:solidFill>
                <a:latin typeface="Segoe UI"/>
              </a:rPr>
              <a:t>Port 3000 sudah dipakai aplikasi lain?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779776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3A1C0"/>
                </a:solidFill>
                <a:latin typeface="Segoe UI"/>
              </a:rPr>
              <a:t>Jalankan di port lain, misalnya 3001 (Windows: set PORT=3001):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3145536"/>
            <a:ext cx="4873752" cy="603504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9536" y="3145536"/>
            <a:ext cx="54864" cy="6035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3145536"/>
            <a:ext cx="45811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EE787"/>
                </a:solidFill>
                <a:latin typeface="Consolas"/>
              </a:rPr>
              <a:t>PORT=3001 npm start</a:t>
            </a:r>
            <a:r>
              <a:rPr sz="850" b="0">
                <a:solidFill>
                  <a:srgbClr val="5D6C8E"/>
                </a:solidFill>
                <a:latin typeface="Consolas"/>
              </a:rPr>
              <a:t>    # ganti port sesuai kebutuhan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2121408"/>
            <a:ext cx="5440680" cy="1810512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8" y="2121408"/>
            <a:ext cx="82296" cy="181051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22860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E8EEFC"/>
                </a:solidFill>
                <a:latin typeface="Segoe UI"/>
              </a:rPr>
              <a:t>Ingin memastikan semuanya normal?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2779776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3A1C0"/>
                </a:solidFill>
                <a:latin typeface="Segoe UI"/>
              </a:rPr>
              <a:t>Jalankan suite tes bawaan (23 pemeriksaan otomatis):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4536" y="3145536"/>
            <a:ext cx="4873752" cy="603504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74536" y="3145536"/>
            <a:ext cx="54864" cy="6035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75704" y="3145536"/>
            <a:ext cx="45811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EE787"/>
                </a:solidFill>
                <a:latin typeface="Consolas"/>
              </a:rPr>
              <a:t>npm test</a:t>
            </a:r>
            <a:r>
              <a:rPr sz="850" b="0">
                <a:solidFill>
                  <a:srgbClr val="5D6C8E"/>
                </a:solidFill>
                <a:latin typeface="Consolas"/>
              </a:rPr>
              <a:t>    # cek integritas &amp; semua fitur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206240"/>
            <a:ext cx="5440680" cy="1810512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206240"/>
            <a:ext cx="82296" cy="181051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37083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E8EEFC"/>
                </a:solidFill>
                <a:latin typeface="Segoe UI"/>
              </a:rPr>
              <a:t>Di mana file hasil unduhan tersimpan?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864608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3A1C0"/>
                </a:solidFill>
                <a:latin typeface="Segoe UI"/>
              </a:rPr>
              <a:t>Buka folder ini di dalam aplikasi: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" y="5230368"/>
            <a:ext cx="4873752" cy="603504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9536" y="5230368"/>
            <a:ext cx="54864" cy="6035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" y="5230368"/>
            <a:ext cx="45811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EE787"/>
                </a:solidFill>
                <a:latin typeface="Consolas"/>
              </a:rPr>
              <a:t>cd download-accelerator/downloads</a:t>
            </a:r>
            <a:r>
              <a:rPr sz="850" b="0">
                <a:solidFill>
                  <a:srgbClr val="5D6C8E"/>
                </a:solidFill>
                <a:latin typeface="Consolas"/>
              </a:rPr>
              <a:t>    # atau klik "Save file"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1928" y="4206240"/>
            <a:ext cx="5440680" cy="1810512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81928" y="4206240"/>
            <a:ext cx="82296" cy="181051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74536" y="437083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E8EEFC"/>
                </a:solidFill>
                <a:latin typeface="Segoe UI"/>
              </a:rPr>
              <a:t>Error: "node: command not found"?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4536" y="4864608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3A1C0"/>
                </a:solidFill>
                <a:latin typeface="Segoe UI"/>
              </a:rPr>
              <a:t>Node.js belum terpasang. Instal LTS dari nodejs.org lalu cek: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74536" y="5230368"/>
            <a:ext cx="4873752" cy="603504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74536" y="5230368"/>
            <a:ext cx="54864" cy="6035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75704" y="5230368"/>
            <a:ext cx="458114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EE787"/>
                </a:solidFill>
                <a:latin typeface="Consolas"/>
              </a:rPr>
              <a:t>node --version</a:t>
            </a:r>
            <a:r>
              <a:rPr sz="850" b="0">
                <a:solidFill>
                  <a:srgbClr val="5D6C8E"/>
                </a:solidFill>
                <a:latin typeface="Consolas"/>
              </a:rPr>
              <a:t>    # pastikan versi ≥ 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C8E"/>
                </a:solidFill>
                <a:latin typeface="Segoe UI"/>
              </a:rPr>
              <a:t>Download Accelerator · Tutorial Infografis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C8E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-2011680"/>
            <a:ext cx="4937760" cy="4937760"/>
          </a:xfrm>
          <a:prstGeom prst="ellipse">
            <a:avLst/>
          </a:prstGeom>
          <a:solidFill>
            <a:srgbClr val="15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4114800"/>
            <a:ext cx="4206240" cy="4206240"/>
          </a:xfrm>
          <a:prstGeom prst="ellipse">
            <a:avLst/>
          </a:prstGeom>
          <a:solidFill>
            <a:srgbClr val="12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43984" y="7772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B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22D3EE"/>
                </a:solidFill>
                <a:latin typeface="Segoe UI"/>
              </a:rPr>
              <a:t>⚡  CHEAT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9994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E8EEFC"/>
                </a:solidFill>
                <a:latin typeface="Segoe UI"/>
              </a:rPr>
              <a:t>Semua Perintah dalam Satu Layar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93392"/>
            <a:ext cx="99943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93A1C0"/>
                </a:solidFill>
                <a:latin typeface="Segoe UI"/>
              </a:rPr>
              <a:t>Salin-tempel berurutan dari atas ke bawah — selesai.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606040"/>
            <a:ext cx="7525512" cy="2514600"/>
          </a:xfrm>
          <a:prstGeom prst="roundRect">
            <a:avLst>
              <a:gd name="adj" fmla="val 9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496312" y="2752344"/>
            <a:ext cx="100584" cy="100584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97480" y="2752344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98648" y="2752344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752" y="2990088"/>
            <a:ext cx="706831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D6C8E"/>
                </a:solidFill>
                <a:latin typeface="Consolas"/>
              </a:rPr>
              <a:t># 1 · masuk ke folder aplikasi</a:t>
            </a:r>
          </a:p>
          <a:p>
            <a:pPr algn="l">
              <a:lnSpc>
                <a:spcPct val="135000"/>
              </a:lnSpc>
            </a:pPr>
            <a:r>
              <a:rPr sz="1350" b="1">
                <a:solidFill>
                  <a:srgbClr val="7EE787"/>
                </a:solidFill>
                <a:latin typeface="Consolas"/>
              </a:rPr>
              <a:t>$ cd download-accelerator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93A1C0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5D6C8E"/>
                </a:solidFill>
                <a:latin typeface="Consolas"/>
              </a:rPr>
              <a:t># 2 · jalankan server</a:t>
            </a:r>
          </a:p>
          <a:p>
            <a:pPr algn="l">
              <a:lnSpc>
                <a:spcPct val="135000"/>
              </a:lnSpc>
            </a:pPr>
            <a:r>
              <a:rPr sz="1350" b="1">
                <a:solidFill>
                  <a:srgbClr val="7EE787"/>
                </a:solidFill>
                <a:latin typeface="Consolas"/>
              </a:rPr>
              <a:t>$ npm start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93A1C0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5D6C8E"/>
                </a:solidFill>
                <a:latin typeface="Consolas"/>
              </a:rPr>
              <a:t># 3 · buka dashboard di browser</a:t>
            </a:r>
          </a:p>
          <a:p>
            <a:pPr algn="l">
              <a:lnSpc>
                <a:spcPct val="135000"/>
              </a:lnSpc>
            </a:pPr>
            <a:r>
              <a:rPr sz="1350" b="1">
                <a:solidFill>
                  <a:srgbClr val="22D3EE"/>
                </a:solidFill>
                <a:latin typeface="Consolas"/>
              </a:rPr>
              <a:t>  http://localhost:3000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5349240"/>
            <a:ext cx="7525512" cy="512064"/>
          </a:xfrm>
          <a:prstGeom prst="roundRect">
            <a:avLst>
              <a:gd name="adj" fmla="val 50000"/>
            </a:avLst>
          </a:prstGeom>
          <a:solidFill>
            <a:srgbClr val="2A2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BBF24"/>
                </a:solidFill>
                <a:latin typeface="Segoe UI"/>
              </a:rPr>
              <a:t>Tekan Ctrl + C di terminal untuk menghentikan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053328"/>
            <a:ext cx="9994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Selamat mengunduh dengan kecepatan penuh! 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